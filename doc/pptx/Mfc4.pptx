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</p:sldIdLst>
  <p:sldSz cx="18288000" cy="10287000"/>
  <p:notesSz cx="6858000" cy="9144000"/>
  <p:embeddedFontLst>
    <p:embeddedFont>
      <p:font typeface="Open Sans" panose="020B0604020202020204" charset="0"/>
      <p:regular r:id="rId13"/>
    </p:embeddedFont>
    <p:embeddedFont>
      <p:font typeface="Nunito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Nunito Bold" panose="020B0604020202020204" charset="0"/>
      <p:regular r:id="rId19"/>
    </p:embeddedFont>
    <p:embeddedFont>
      <p:font typeface="Proxima Nova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8" d="100"/>
          <a:sy n="28" d="100"/>
        </p:scale>
        <p:origin x="68" y="8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95961" y="5935345"/>
            <a:ext cx="8126677" cy="8126677"/>
          </a:xfrm>
          <a:custGeom>
            <a:avLst/>
            <a:gdLst/>
            <a:ahLst/>
            <a:cxnLst/>
            <a:rect l="l" t="t" r="r" b="b"/>
            <a:pathLst>
              <a:path w="8126677" h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350137" y="-174299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94970" y="-138782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97411" y="6636795"/>
            <a:ext cx="6723778" cy="6723778"/>
          </a:xfrm>
          <a:custGeom>
            <a:avLst/>
            <a:gdLst/>
            <a:ahLst/>
            <a:cxnLst/>
            <a:rect l="l" t="t" r="r" b="b"/>
            <a:pathLst>
              <a:path w="6723778" h="6723778">
                <a:moveTo>
                  <a:pt x="0" y="0"/>
                </a:moveTo>
                <a:lnTo>
                  <a:pt x="6723778" y="0"/>
                </a:lnTo>
                <a:lnTo>
                  <a:pt x="6723778" y="6723778"/>
                </a:lnTo>
                <a:lnTo>
                  <a:pt x="0" y="6723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4876906" y="7616290"/>
            <a:ext cx="4764788" cy="476478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99020" y="-891876"/>
            <a:ext cx="2412567" cy="241256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16295" y="3048893"/>
            <a:ext cx="15055411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UNCERTAINTY-AWARE IMAGE DEHAZING USING PSEUDO-INVERSE MODELING INSPIRED BY CVAE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1350137" y="7424054"/>
            <a:ext cx="9591354" cy="16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2"/>
              </a:lnSpc>
            </a:pPr>
            <a:r>
              <a:rPr lang="en-US" sz="24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C. Sai Jagruth - CB.SC.U4AIE24310</a:t>
            </a:r>
          </a:p>
          <a:p>
            <a:pPr algn="ctr">
              <a:lnSpc>
                <a:spcPts val="3382"/>
              </a:lnSpc>
            </a:pPr>
            <a:r>
              <a:rPr lang="en-US" sz="24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G. Baby Sree - CB.SC.U4AIE24318</a:t>
            </a:r>
          </a:p>
          <a:p>
            <a:pPr algn="ctr">
              <a:lnSpc>
                <a:spcPts val="3382"/>
              </a:lnSpc>
            </a:pPr>
            <a:r>
              <a:rPr lang="en-US" sz="24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 R Vardhan - CB.SC.U4AIE24320</a:t>
            </a:r>
          </a:p>
          <a:p>
            <a:pPr algn="ctr">
              <a:lnSpc>
                <a:spcPts val="3382"/>
              </a:lnSpc>
            </a:pPr>
            <a:r>
              <a:rPr lang="en-US" sz="24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Y. Likitha Reddy - CB.SC.U4AIE24361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1715793" y="6589170"/>
            <a:ext cx="9591354" cy="43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2"/>
              </a:lnSpc>
            </a:pPr>
            <a:r>
              <a:rPr lang="en-US" sz="26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GROUP-6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86754" y="4924742"/>
            <a:ext cx="4514493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22MAT230 - MFC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85116" y="1230454"/>
            <a:ext cx="1011776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26167" y="2964004"/>
            <a:ext cx="12235666" cy="505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Image enhancement improves contrast, clarity, and visibility of images.</a:t>
            </a:r>
          </a:p>
          <a:p>
            <a:pPr marL="604519" lvl="1" indent="-302260" algn="just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Satellite images are frequently degraded by haze and thin clouds.</a:t>
            </a:r>
          </a:p>
          <a:p>
            <a:pPr marL="604519" lvl="1" indent="-302260" algn="just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Atmospheric scattering causes loss of image details and reduced contrast.</a:t>
            </a:r>
          </a:p>
          <a:p>
            <a:pPr marL="604519" lvl="1" indent="-302260" algn="just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degradation affects accurate interpretation of remote sensing data.</a:t>
            </a:r>
          </a:p>
          <a:p>
            <a:pPr marL="604519" lvl="1" indent="-302260" algn="just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Enhancing hazy images is necessary for better visual analysis.</a:t>
            </a:r>
          </a:p>
          <a:p>
            <a:pPr marL="604519" lvl="1" indent="-302260" algn="just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work focuses on enhancing haze-degraded images using Pseudo inverse and variational autoencoders.</a:t>
            </a:r>
          </a:p>
        </p:txBody>
      </p:sp>
      <p:sp>
        <p:nvSpPr>
          <p:cNvPr id="6" name="Freeform 6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16983" y="1230454"/>
            <a:ext cx="12913617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91495" y="3778451"/>
            <a:ext cx="12105010" cy="441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Haze degradation causes loss of image contrast and details.</a:t>
            </a:r>
          </a:p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degradation process makes enhancement difficult.</a:t>
            </a:r>
          </a:p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One hazy image can correspond to many possible clear images.</a:t>
            </a:r>
          </a:p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Traditional enhancement methods give only one output.</a:t>
            </a:r>
          </a:p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These methods do not model uncertainty in degraded regions.</a:t>
            </a:r>
          </a:p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Hence, an effective enhancement approach is required.</a:t>
            </a:r>
          </a:p>
          <a:p>
            <a:pPr algn="l">
              <a:lnSpc>
                <a:spcPts val="5039"/>
              </a:lnSpc>
            </a:pPr>
            <a:endParaRPr lang="en-US" sz="2799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70599" y="1230454"/>
            <a:ext cx="8546802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OBJECTIVES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97206" y="3778451"/>
            <a:ext cx="11693587" cy="377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To enhance hazy images and improve visual quality.</a:t>
            </a:r>
          </a:p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To obtain an initial enhanced image using pseudo-inverse method.</a:t>
            </a:r>
          </a:p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To model uncertainty using Variational Autoencoder (VAE).</a:t>
            </a:r>
          </a:p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To generate multiple enhanced images from a single input.</a:t>
            </a:r>
          </a:p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To combine enhanced outputs to obtain better final image quality.</a:t>
            </a:r>
          </a:p>
          <a:p>
            <a:pPr algn="l">
              <a:lnSpc>
                <a:spcPts val="5039"/>
              </a:lnSpc>
            </a:pPr>
            <a:endParaRPr lang="en-US" sz="2799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191770" y="331609"/>
            <a:ext cx="9083098" cy="144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METHODOLOGY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05000" y="1794426"/>
            <a:ext cx="11812975" cy="97719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28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1. Image Degradation Model :</a:t>
            </a:r>
          </a:p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Hazy image formation is modeled as:</a:t>
            </a:r>
          </a:p>
          <a:p>
            <a:pPr algn="l">
              <a:lnSpc>
                <a:spcPts val="5039"/>
              </a:lnSpc>
            </a:pPr>
            <a:r>
              <a:rPr lang="en-US" sz="24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                                             I(x) = J(x)t(x) + A(1 − t(x</a:t>
            </a:r>
            <a:r>
              <a:rPr lang="en-US" sz="2400" b="1" dirty="0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))</a:t>
            </a:r>
            <a:endParaRPr lang="en-US" sz="2400" b="1" dirty="0">
              <a:solidFill>
                <a:srgbClr val="000000"/>
              </a:solidFill>
              <a:latin typeface="Nunito Bold"/>
              <a:ea typeface="Nunito Bold"/>
              <a:cs typeface="Nunito Bold"/>
              <a:sym typeface="Nunito Bold"/>
            </a:endParaRPr>
          </a:p>
          <a:p>
            <a:pPr algn="l">
              <a:lnSpc>
                <a:spcPts val="5039"/>
              </a:lnSpc>
            </a:pPr>
            <a:r>
              <a:rPr lang="en-US" sz="2400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Where:</a:t>
            </a:r>
            <a:endParaRPr lang="en-US" sz="24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4519" lvl="1" indent="-302260">
              <a:lnSpc>
                <a:spcPts val="503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I(x)): hazy image                                </a:t>
            </a:r>
            <a:r>
              <a:rPr lang="en-US" sz="2400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t(x</a:t>
            </a: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): transmission</a:t>
            </a:r>
          </a:p>
          <a:p>
            <a:pPr marL="604519" lvl="1" indent="-302260">
              <a:lnSpc>
                <a:spcPts val="503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A: </a:t>
            </a:r>
            <a:r>
              <a:rPr lang="en-US" sz="2400" dirty="0" err="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airlight</a:t>
            </a:r>
            <a:r>
              <a:rPr lang="en-US" sz="2400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J(x</a:t>
            </a: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): clear image</a:t>
            </a:r>
          </a:p>
          <a:p>
            <a:pPr>
              <a:lnSpc>
                <a:spcPts val="5189"/>
              </a:lnSpc>
            </a:pPr>
            <a:r>
              <a:rPr lang="en-US" sz="2800" b="1" dirty="0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2.Linear </a:t>
            </a:r>
            <a:r>
              <a:rPr lang="en-US" sz="28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Inverse Problem Representation</a:t>
            </a:r>
          </a:p>
          <a:p>
            <a:pPr marL="622424" lvl="1" indent="-311212">
              <a:lnSpc>
                <a:spcPts val="518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haze model can be written in matrix form:</a:t>
            </a:r>
          </a:p>
          <a:p>
            <a:pPr>
              <a:lnSpc>
                <a:spcPts val="5189"/>
              </a:lnSpc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</a:t>
            </a:r>
            <a:r>
              <a:rPr lang="en-US" sz="24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  I = HJ</a:t>
            </a:r>
          </a:p>
          <a:p>
            <a:pPr>
              <a:lnSpc>
                <a:spcPts val="5189"/>
              </a:lnSpc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Where:</a:t>
            </a:r>
          </a:p>
          <a:p>
            <a:pPr marL="622424" lvl="1" indent="-311212">
              <a:lnSpc>
                <a:spcPts val="518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H: haze degradation operator</a:t>
            </a:r>
          </a:p>
          <a:p>
            <a:pPr marL="622424" lvl="1" indent="-311212">
              <a:lnSpc>
                <a:spcPts val="518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J: unknown clean image</a:t>
            </a:r>
          </a:p>
          <a:p>
            <a:pPr marL="302259" lvl="1" algn="l">
              <a:lnSpc>
                <a:spcPts val="503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03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03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674149" y="160526"/>
            <a:ext cx="908309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METHODOLOGY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3331" y="1791357"/>
            <a:ext cx="12039916" cy="916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lang="en-US" sz="28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3</a:t>
            </a:r>
            <a:r>
              <a:rPr lang="en-US" sz="2800" b="1" dirty="0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. Pseudo-Inverse </a:t>
            </a:r>
            <a:r>
              <a:rPr lang="en-US" sz="28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Based Enhancement</a:t>
            </a:r>
          </a:p>
          <a:p>
            <a:pPr marL="622424" lvl="1" indent="-311212" algn="l">
              <a:lnSpc>
                <a:spcPts val="432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To obtain a stable solution, Moore–Penrose pseudo-inverse is used:</a:t>
            </a:r>
          </a:p>
          <a:p>
            <a:pPr algn="l">
              <a:lnSpc>
                <a:spcPts val="4324"/>
              </a:lnSpc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</a:t>
            </a:r>
            <a:r>
              <a:rPr lang="en-US" sz="24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 J₀ = H⁺ I</a:t>
            </a:r>
          </a:p>
          <a:p>
            <a:pPr marL="622424" lvl="1" indent="-311212" algn="l">
              <a:lnSpc>
                <a:spcPts val="432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provides the minimum-error solution:</a:t>
            </a:r>
          </a:p>
          <a:p>
            <a:pPr algn="l">
              <a:lnSpc>
                <a:spcPts val="4324"/>
              </a:lnSpc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</a:t>
            </a:r>
            <a:r>
              <a:rPr lang="en-US" sz="24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     J₀ = </a:t>
            </a:r>
            <a:r>
              <a:rPr lang="en-US" sz="2400" b="1" dirty="0" err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arg</a:t>
            </a:r>
            <a:r>
              <a:rPr lang="en-US" sz="24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min || HJ − I ||₂</a:t>
            </a:r>
          </a:p>
          <a:p>
            <a:pPr algn="l">
              <a:lnSpc>
                <a:spcPts val="4324"/>
              </a:lnSpc>
            </a:pPr>
            <a:endParaRPr lang="en-US" sz="2800" b="1" dirty="0">
              <a:solidFill>
                <a:srgbClr val="000000"/>
              </a:solidFill>
              <a:latin typeface="Nunito Bold"/>
              <a:ea typeface="Nunito Bold"/>
              <a:cs typeface="Nunito Bold"/>
              <a:sym typeface="Nunito Bold"/>
            </a:endParaRPr>
          </a:p>
          <a:p>
            <a:pPr algn="l">
              <a:lnSpc>
                <a:spcPts val="4324"/>
              </a:lnSpc>
            </a:pPr>
            <a:r>
              <a:rPr lang="en-US" sz="28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4</a:t>
            </a:r>
            <a:r>
              <a:rPr lang="en-US" sz="2800" b="1" dirty="0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. Pixel-Wise </a:t>
            </a:r>
            <a:r>
              <a:rPr lang="en-US" sz="28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Regularized Solution</a:t>
            </a:r>
          </a:p>
          <a:p>
            <a:pPr marL="622424" lvl="1" indent="-311212" algn="l">
              <a:lnSpc>
                <a:spcPts val="432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From the haze model:</a:t>
            </a:r>
          </a:p>
          <a:p>
            <a:pPr algn="l">
              <a:lnSpc>
                <a:spcPts val="4324"/>
              </a:lnSpc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</a:t>
            </a:r>
            <a:r>
              <a:rPr lang="en-US" sz="24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  J(x) = ( I(x) − A(1 − t(x)) ) / t(x)</a:t>
            </a:r>
          </a:p>
          <a:p>
            <a:pPr marL="622424" lvl="1" indent="-311212" algn="l">
              <a:lnSpc>
                <a:spcPts val="432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​​To avoid instability when t is small, regularization is applied:</a:t>
            </a:r>
          </a:p>
          <a:p>
            <a:pPr algn="l">
              <a:lnSpc>
                <a:spcPts val="4324"/>
              </a:lnSpc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     </a:t>
            </a:r>
            <a:r>
              <a:rPr lang="en-US" sz="24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           J(x) = ( I(x) − A(1 − t(x)) ) / t(x)+λ</a:t>
            </a:r>
          </a:p>
          <a:p>
            <a:pPr algn="l">
              <a:lnSpc>
                <a:spcPts val="4324"/>
              </a:lnSpc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​​Where:</a:t>
            </a:r>
          </a:p>
          <a:p>
            <a:pPr marL="622424" lvl="1" indent="-311212" algn="l">
              <a:lnSpc>
                <a:spcPts val="432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λ&gt;0 is regularization parameter</a:t>
            </a:r>
          </a:p>
          <a:p>
            <a:pPr algn="l">
              <a:lnSpc>
                <a:spcPts val="5189"/>
              </a:lnSpc>
            </a:pPr>
            <a:endParaRPr lang="en-US" sz="2882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189"/>
              </a:lnSpc>
            </a:pPr>
            <a:endParaRPr lang="en-US" sz="2882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189"/>
              </a:lnSpc>
            </a:pPr>
            <a:endParaRPr lang="en-US" sz="2882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07943" y="1888994"/>
            <a:ext cx="12039916" cy="866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9"/>
              </a:lnSpc>
            </a:pPr>
            <a:r>
              <a:rPr lang="en-US" sz="28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5.Transmission Estimation</a:t>
            </a:r>
          </a:p>
          <a:p>
            <a:pPr marL="622424" lvl="1" indent="-311212" algn="l">
              <a:lnSpc>
                <a:spcPts val="518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Transmission map is estimated using local averaging:</a:t>
            </a:r>
          </a:p>
          <a:p>
            <a:pPr algn="l">
              <a:lnSpc>
                <a:spcPts val="5189"/>
              </a:lnSpc>
            </a:pPr>
            <a:r>
              <a:rPr lang="en-US" sz="2882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</a:t>
            </a:r>
          </a:p>
          <a:p>
            <a:pPr algn="l">
              <a:lnSpc>
                <a:spcPts val="5189"/>
              </a:lnSpc>
            </a:pPr>
            <a:endParaRPr lang="en-US" sz="2882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ts val="5189"/>
              </a:lnSpc>
            </a:pPr>
            <a:r>
              <a:rPr lang="en-US" sz="28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6.Uncertainty Modeling (CVAE)</a:t>
            </a:r>
          </a:p>
          <a:p>
            <a:pPr marL="622424" lvl="1" indent="-311212">
              <a:lnSpc>
                <a:spcPts val="518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Transmission estimation is not exact.</a:t>
            </a:r>
          </a:p>
          <a:p>
            <a:pPr marL="622424" lvl="1" indent="-311212">
              <a:lnSpc>
                <a:spcPts val="518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Hence we model uncertainty:      </a:t>
            </a:r>
          </a:p>
          <a:p>
            <a:pPr>
              <a:lnSpc>
                <a:spcPts val="5189"/>
              </a:lnSpc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</a:t>
            </a:r>
            <a:r>
              <a:rPr lang="en-US" sz="24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  tₖ(x) = sₖ · t₀(</a:t>
            </a:r>
            <a:r>
              <a:rPr lang="en-US" sz="2400" b="1" dirty="0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x)         s</a:t>
            </a:r>
            <a:r>
              <a:rPr lang="en-US" sz="24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ₖ ∈ [0.9 , 1.1]</a:t>
            </a:r>
          </a:p>
          <a:p>
            <a:pPr marL="622424" lvl="1" indent="-311212">
              <a:lnSpc>
                <a:spcPts val="518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Each sampled transmission produces:</a:t>
            </a:r>
          </a:p>
          <a:p>
            <a:pPr>
              <a:lnSpc>
                <a:spcPts val="5189"/>
              </a:lnSpc>
            </a:pPr>
            <a:endParaRPr lang="en-US" sz="2400" dirty="0" smtClean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ts val="5189"/>
              </a:lnSpc>
            </a:pPr>
            <a:endParaRPr lang="en-US" sz="24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22424" lvl="1" indent="-311212">
              <a:lnSpc>
                <a:spcPts val="518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Multiple valid enhanced images are generated</a:t>
            </a:r>
            <a:endParaRPr lang="en-US" sz="2882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189"/>
              </a:lnSpc>
            </a:pPr>
            <a:endParaRPr lang="en-US" sz="2882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6040848" y="3529814"/>
            <a:ext cx="4545452" cy="917560"/>
          </a:xfrm>
          <a:custGeom>
            <a:avLst/>
            <a:gdLst/>
            <a:ahLst/>
            <a:cxnLst/>
            <a:rect l="l" t="t" r="r" b="b"/>
            <a:pathLst>
              <a:path w="4545452" h="917560">
                <a:moveTo>
                  <a:pt x="0" y="0"/>
                </a:moveTo>
                <a:lnTo>
                  <a:pt x="4545452" y="0"/>
                </a:lnTo>
                <a:lnTo>
                  <a:pt x="4545452" y="917560"/>
                </a:lnTo>
                <a:lnTo>
                  <a:pt x="0" y="917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674149" y="280410"/>
            <a:ext cx="9083098" cy="144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METHODOLOGY</a:t>
            </a:r>
          </a:p>
        </p:txBody>
      </p:sp>
      <p:sp>
        <p:nvSpPr>
          <p:cNvPr id="17" name="Freeform 15"/>
          <p:cNvSpPr/>
          <p:nvPr/>
        </p:nvSpPr>
        <p:spPr>
          <a:xfrm>
            <a:off x="6053040" y="7969033"/>
            <a:ext cx="4691959" cy="977491"/>
          </a:xfrm>
          <a:custGeom>
            <a:avLst/>
            <a:gdLst/>
            <a:ahLst/>
            <a:cxnLst/>
            <a:rect l="l" t="t" r="r" b="b"/>
            <a:pathLst>
              <a:path w="4691959" h="977491">
                <a:moveTo>
                  <a:pt x="0" y="0"/>
                </a:moveTo>
                <a:lnTo>
                  <a:pt x="4691959" y="0"/>
                </a:lnTo>
                <a:lnTo>
                  <a:pt x="4691959" y="977492"/>
                </a:lnTo>
                <a:lnTo>
                  <a:pt x="0" y="977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43529" y="1755475"/>
            <a:ext cx="12039916" cy="666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9"/>
              </a:lnSpc>
            </a:pPr>
            <a:r>
              <a:rPr lang="en-US" sz="28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7</a:t>
            </a:r>
            <a:r>
              <a:rPr lang="en-US" sz="2800" b="1" dirty="0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. Frequency </a:t>
            </a:r>
            <a:r>
              <a:rPr lang="en-US" sz="28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Domain Fusion</a:t>
            </a:r>
          </a:p>
          <a:p>
            <a:pPr marL="622424" lvl="1" indent="-311212" algn="l">
              <a:lnSpc>
                <a:spcPts val="518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Final enhanced image obtained by averaging in frequency domain:</a:t>
            </a:r>
          </a:p>
          <a:p>
            <a:pPr algn="l">
              <a:lnSpc>
                <a:spcPts val="5189"/>
              </a:lnSpc>
            </a:pPr>
            <a:endParaRPr lang="en-US" sz="2882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189"/>
              </a:lnSpc>
            </a:pPr>
            <a:endParaRPr lang="en-US" sz="2882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189"/>
              </a:lnSpc>
            </a:pPr>
            <a:r>
              <a:rPr lang="en-US" sz="2882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​</a:t>
            </a: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Where:</a:t>
            </a:r>
          </a:p>
          <a:p>
            <a:pPr marL="622424" lvl="1" indent="-311212" algn="l">
              <a:lnSpc>
                <a:spcPts val="518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F: Fourier Transform</a:t>
            </a:r>
          </a:p>
          <a:p>
            <a:pPr algn="l">
              <a:lnSpc>
                <a:spcPts val="5189"/>
              </a:lnSpc>
            </a:pPr>
            <a:endParaRPr lang="en-US" sz="2882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189"/>
              </a:lnSpc>
            </a:pPr>
            <a:r>
              <a:rPr lang="en-US" sz="28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8</a:t>
            </a:r>
            <a:r>
              <a:rPr lang="en-US" sz="2800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r>
              <a:rPr lang="en-US" sz="2800" b="1" dirty="0" smtClean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Final </a:t>
            </a:r>
            <a:r>
              <a:rPr lang="en-US" sz="28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Mathematical Expression</a:t>
            </a:r>
          </a:p>
          <a:p>
            <a:pPr algn="l">
              <a:lnSpc>
                <a:spcPts val="5189"/>
              </a:lnSpc>
            </a:pPr>
            <a:endParaRPr lang="en-US" sz="2882" b="1" dirty="0">
              <a:solidFill>
                <a:srgbClr val="000000"/>
              </a:solidFill>
              <a:latin typeface="Nunito Bold"/>
              <a:ea typeface="Nunito Bold"/>
              <a:cs typeface="Nunito Bold"/>
              <a:sym typeface="Nunito Bold"/>
            </a:endParaRPr>
          </a:p>
          <a:p>
            <a:pPr algn="l">
              <a:lnSpc>
                <a:spcPts val="5189"/>
              </a:lnSpc>
            </a:pPr>
            <a:endParaRPr lang="en-US" sz="2882" b="1" dirty="0">
              <a:solidFill>
                <a:srgbClr val="00000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6519091" y="3390900"/>
            <a:ext cx="3488792" cy="915093"/>
          </a:xfrm>
          <a:custGeom>
            <a:avLst/>
            <a:gdLst/>
            <a:ahLst/>
            <a:cxnLst/>
            <a:rect l="l" t="t" r="r" b="b"/>
            <a:pathLst>
              <a:path w="3488792" h="915093">
                <a:moveTo>
                  <a:pt x="0" y="0"/>
                </a:moveTo>
                <a:lnTo>
                  <a:pt x="3488792" y="0"/>
                </a:lnTo>
                <a:lnTo>
                  <a:pt x="3488792" y="915093"/>
                </a:lnTo>
                <a:lnTo>
                  <a:pt x="0" y="9150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530601" y="7200900"/>
            <a:ext cx="3609447" cy="1005911"/>
          </a:xfrm>
          <a:custGeom>
            <a:avLst/>
            <a:gdLst/>
            <a:ahLst/>
            <a:cxnLst/>
            <a:rect l="l" t="t" r="r" b="b"/>
            <a:pathLst>
              <a:path w="3609447" h="1005911">
                <a:moveTo>
                  <a:pt x="0" y="0"/>
                </a:moveTo>
                <a:lnTo>
                  <a:pt x="3609447" y="0"/>
                </a:lnTo>
                <a:lnTo>
                  <a:pt x="3609447" y="1005911"/>
                </a:lnTo>
                <a:lnTo>
                  <a:pt x="0" y="10059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158242" y="256581"/>
            <a:ext cx="9083098" cy="144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METHODOLOGY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 flipV="1">
            <a:off x="8510015" y="5567002"/>
            <a:ext cx="154369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7" name="TextBox 17"/>
          <p:cNvSpPr txBox="1"/>
          <p:nvPr/>
        </p:nvSpPr>
        <p:spPr>
          <a:xfrm>
            <a:off x="4602451" y="1230454"/>
            <a:ext cx="908309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RESULTS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96522" y="8517700"/>
            <a:ext cx="1035963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Input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88855" y="8517700"/>
            <a:ext cx="139338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Output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2236" y="2873461"/>
            <a:ext cx="4913018" cy="538708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567" y="2773504"/>
            <a:ext cx="5025968" cy="54727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70599" y="1230454"/>
            <a:ext cx="8546802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FUTURE WORK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97476" y="2964004"/>
            <a:ext cx="12693048" cy="377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Improve image fusion technique for better quality</a:t>
            </a:r>
          </a:p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Reduce processing time of the model</a:t>
            </a:r>
          </a:p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Apply the method to real-time image enhancement</a:t>
            </a:r>
          </a:p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Test the model on more real-world images</a:t>
            </a:r>
          </a:p>
          <a:p>
            <a:pPr marL="604519" lvl="1" indent="-302260" algn="l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Use lightweight models for faster execution</a:t>
            </a:r>
          </a:p>
          <a:p>
            <a:pPr algn="l">
              <a:lnSpc>
                <a:spcPts val="5039"/>
              </a:lnSpc>
            </a:pPr>
            <a:endParaRPr lang="en-US" sz="2799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013131" y="3908425"/>
            <a:ext cx="10261737" cy="222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520</Words>
  <Application>Microsoft Office PowerPoint</Application>
  <PresentationFormat>Custom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Open Sans</vt:lpstr>
      <vt:lpstr>Nunito</vt:lpstr>
      <vt:lpstr>Calibri</vt:lpstr>
      <vt:lpstr>Nunito Bold</vt:lpstr>
      <vt:lpstr>Proxima Nova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Functional Impacts of Genetic Variants Using Machine Learning</dc:title>
  <dc:creator>Baby Sree Gangarapu</dc:creator>
  <cp:lastModifiedBy>Baby Sree Gangarapu</cp:lastModifiedBy>
  <cp:revision>5</cp:revision>
  <dcterms:created xsi:type="dcterms:W3CDTF">2006-08-16T00:00:00Z</dcterms:created>
  <dcterms:modified xsi:type="dcterms:W3CDTF">2026-01-25T22:09:37Z</dcterms:modified>
  <dc:identifier>DAG-4lal6rY</dc:identifier>
</cp:coreProperties>
</file>